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18" d="100"/>
          <a:sy n="218" d="100"/>
        </p:scale>
        <p:origin x="-7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91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19.png"/><Relationship Id="rId21" Type="http://schemas.openxmlformats.org/officeDocument/2006/relationships/image" Target="../media/image37.sv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sv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svg"/><Relationship Id="rId9" Type="http://schemas.openxmlformats.org/officeDocument/2006/relationships/image" Target="../media/image25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svg"/><Relationship Id="rId10" Type="http://schemas.openxmlformats.org/officeDocument/2006/relationships/image" Target="../media/image46.png"/><Relationship Id="rId4" Type="http://schemas.openxmlformats.org/officeDocument/2006/relationships/image" Target="../media/image40.svg"/><Relationship Id="rId9" Type="http://schemas.openxmlformats.org/officeDocument/2006/relationships/image" Target="../media/image45.svg"/><Relationship Id="rId1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11" Type="http://schemas.openxmlformats.org/officeDocument/2006/relationships/image" Target="../media/image63.svg"/><Relationship Id="rId5" Type="http://schemas.openxmlformats.org/officeDocument/2006/relationships/image" Target="../media/image57.png"/><Relationship Id="rId15" Type="http://schemas.openxmlformats.org/officeDocument/2006/relationships/image" Target="../media/image67.svg"/><Relationship Id="rId10" Type="http://schemas.openxmlformats.org/officeDocument/2006/relationships/image" Target="../media/image62.png"/><Relationship Id="rId19" Type="http://schemas.openxmlformats.org/officeDocument/2006/relationships/image" Target="../media/image71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0" y="0"/>
            <a:ext cx="4114800" cy="28289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2038" y="258105"/>
            <a:ext cx="4763" cy="92392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648700" y="308595"/>
            <a:ext cx="38100" cy="381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233" y="4007197"/>
            <a:ext cx="1647825" cy="476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9552" y="359532"/>
            <a:ext cx="366712" cy="36671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337" y="442317"/>
            <a:ext cx="201141" cy="201141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143744" y="408384"/>
            <a:ext cx="12096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0EA5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HEALTHCARE TITANS</a:t>
            </a:r>
            <a:endParaRPr lang="en-US" sz="700" dirty="0"/>
          </a:p>
        </p:txBody>
      </p:sp>
      <p:sp>
        <p:nvSpPr>
          <p:cNvPr id="10" name="Text 2"/>
          <p:cNvSpPr/>
          <p:nvPr/>
        </p:nvSpPr>
        <p:spPr>
          <a:xfrm>
            <a:off x="1143744" y="561156"/>
            <a:ext cx="120967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0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Hackathon 2026</a:t>
            </a:r>
          </a:p>
          <a:p>
            <a:pPr marL="0" indent="0" algn="l">
              <a:lnSpc>
                <a:spcPts val="918"/>
              </a:lnSpc>
              <a:buNone/>
            </a:pPr>
            <a:endParaRPr lang="en-US" sz="600" dirty="0"/>
          </a:p>
        </p:txBody>
      </p:sp>
      <p:sp>
        <p:nvSpPr>
          <p:cNvPr id="11" name="Text 3"/>
          <p:cNvSpPr/>
          <p:nvPr/>
        </p:nvSpPr>
        <p:spPr>
          <a:xfrm>
            <a:off x="639068" y="1494606"/>
            <a:ext cx="1333500" cy="209550"/>
          </a:xfrm>
          <a:prstGeom prst="roundRect">
            <a:avLst>
              <a:gd name="adj" fmla="val 54545"/>
            </a:avLst>
          </a:prstGeom>
          <a:solidFill>
            <a:srgbClr val="0EA5E9">
              <a:alpha val="12000"/>
            </a:srgbClr>
          </a:solidFill>
          <a:ln w="4763">
            <a:solidFill>
              <a:srgbClr val="0EA5E9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spcAft>
                <a:spcPts val="1013"/>
              </a:spcAft>
              <a:buNone/>
            </a:pPr>
            <a:r>
              <a:rPr lang="en-US" sz="7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IN HEALTHCARE</a:t>
            </a:r>
            <a:endParaRPr lang="en-US" sz="700" dirty="0"/>
          </a:p>
        </p:txBody>
      </p:sp>
      <p:sp>
        <p:nvSpPr>
          <p:cNvPr id="12" name="Text 4"/>
          <p:cNvSpPr/>
          <p:nvPr/>
        </p:nvSpPr>
        <p:spPr>
          <a:xfrm>
            <a:off x="640035" y="1834307"/>
            <a:ext cx="6400800" cy="10048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spcAft>
                <a:spcPts val="1013"/>
              </a:spcAft>
              <a:buNone/>
            </a:pPr>
            <a:r>
              <a:rPr lang="en-US" sz="39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Digital Wellbeing</a:t>
            </a:r>
            <a:endParaRPr lang="en-US" sz="3900" dirty="0"/>
          </a:p>
          <a:p>
            <a:pPr marL="0" indent="0" algn="l">
              <a:lnSpc>
                <a:spcPts val="3960"/>
              </a:lnSpc>
              <a:buNone/>
            </a:pPr>
            <a:r>
              <a:rPr lang="en-US" sz="39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Healthcare Assistant</a:t>
            </a:r>
            <a:endParaRPr lang="en-US" sz="3900" dirty="0"/>
          </a:p>
        </p:txBody>
      </p:sp>
      <p:sp>
        <p:nvSpPr>
          <p:cNvPr id="13" name="Text 5"/>
          <p:cNvSpPr/>
          <p:nvPr/>
        </p:nvSpPr>
        <p:spPr>
          <a:xfrm>
            <a:off x="640035" y="2967484"/>
            <a:ext cx="5029200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 AI-powered platform for real-time health monitoring, intelligent diagnosis, and personalized wellbeing insights.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640556" y="4230774"/>
            <a:ext cx="786288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203"/>
              </a:spcAft>
              <a:buNone/>
            </a:pPr>
            <a:r>
              <a:rPr lang="en-US" sz="900" b="1" dirty="0">
                <a:solidFill>
                  <a:srgbClr val="0EA5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Team Healthcare Titans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640333" y="4495167"/>
            <a:ext cx="9620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TEAM LEADER</a:t>
            </a:r>
            <a:endParaRPr lang="en-US" sz="600" dirty="0"/>
          </a:p>
        </p:txBody>
      </p:sp>
      <p:sp>
        <p:nvSpPr>
          <p:cNvPr id="16" name="Text 8"/>
          <p:cNvSpPr/>
          <p:nvPr/>
        </p:nvSpPr>
        <p:spPr>
          <a:xfrm>
            <a:off x="640333" y="4617765"/>
            <a:ext cx="962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Deepanshu Kumar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1876090" y="4495167"/>
            <a:ext cx="252888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MEMBERS</a:t>
            </a:r>
            <a:endParaRPr lang="en-US" sz="600" dirty="0"/>
          </a:p>
        </p:txBody>
      </p:sp>
      <p:sp>
        <p:nvSpPr>
          <p:cNvPr id="18" name="Text 10"/>
          <p:cNvSpPr/>
          <p:nvPr/>
        </p:nvSpPr>
        <p:spPr>
          <a:xfrm>
            <a:off x="1876090" y="4617765"/>
            <a:ext cx="25288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Chetan Sharma • Aayush Sharma • Kaushal Patel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4678003" y="4495167"/>
            <a:ext cx="26289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INSTITUTION</a:t>
            </a:r>
            <a:endParaRPr lang="en-US" sz="600" dirty="0"/>
          </a:p>
        </p:txBody>
      </p:sp>
      <p:sp>
        <p:nvSpPr>
          <p:cNvPr id="20" name="Text 12"/>
          <p:cNvSpPr/>
          <p:nvPr/>
        </p:nvSpPr>
        <p:spPr>
          <a:xfrm>
            <a:off x="4678003" y="4617765"/>
            <a:ext cx="26289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MUIT NOIDA — Maharishi University Noida Campus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0" y="0"/>
            <a:ext cx="3200400" cy="2057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966" y="1033649"/>
            <a:ext cx="4752975" cy="176212"/>
          </a:xfrm>
          <a:prstGeom prst="roundRect">
            <a:avLst>
              <a:gd name="adj" fmla="val 64865"/>
            </a:avLst>
          </a:prstGeom>
          <a:solidFill>
            <a:srgbClr val="EF4444">
              <a:alpha val="12000"/>
            </a:srgbClr>
          </a:solidFill>
          <a:ln w="4763">
            <a:solidFill>
              <a:srgbClr val="EF4444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F871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40966" y="1312738"/>
            <a:ext cx="4752975" cy="762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1013"/>
              </a:spcAft>
              <a:buNone/>
            </a:pPr>
            <a:r>
              <a:rPr lang="en-US" sz="27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Hidden Crisis in</a:t>
            </a:r>
            <a:endParaRPr lang="en-US" sz="2700" dirty="0"/>
          </a:p>
          <a:p>
            <a:pPr marL="0" indent="0" algn="l">
              <a:lnSpc>
                <a:spcPts val="3010"/>
              </a:lnSpc>
              <a:buNone/>
            </a:pPr>
            <a:r>
              <a:rPr lang="en-US" sz="27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Wellbeing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640966" y="2205224"/>
            <a:ext cx="4752975" cy="571500"/>
          </a:xfrm>
          <a:prstGeom prst="roundRect">
            <a:avLst>
              <a:gd name="adj" fmla="val 20480"/>
            </a:avLst>
          </a:prstGeom>
          <a:solidFill>
            <a:srgbClr val="0A1F35">
              <a:alpha val="80000"/>
            </a:srgbClr>
          </a:solidFill>
          <a:ln w="4763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81348" y="2285702"/>
            <a:ext cx="257175" cy="257175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25" y="2345680"/>
            <a:ext cx="137145" cy="1371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5668" y="2285554"/>
            <a:ext cx="40767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Proactive Health Monitoring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1175668" y="2452688"/>
            <a:ext cx="40767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 only visit doctors when already ill. Lifestyle habits like poor sleep, high screen time, and low exercise go untracked and ignored.</a:t>
            </a:r>
            <a:endParaRPr lang="en-US" sz="600" dirty="0"/>
          </a:p>
        </p:txBody>
      </p:sp>
      <p:sp>
        <p:nvSpPr>
          <p:cNvPr id="11" name="Shape 6"/>
          <p:cNvSpPr/>
          <p:nvPr/>
        </p:nvSpPr>
        <p:spPr>
          <a:xfrm>
            <a:off x="640966" y="2870857"/>
            <a:ext cx="4752975" cy="571500"/>
          </a:xfrm>
          <a:prstGeom prst="roundRect">
            <a:avLst>
              <a:gd name="adj" fmla="val 20480"/>
            </a:avLst>
          </a:prstGeom>
          <a:solidFill>
            <a:srgbClr val="0A1F35">
              <a:alpha val="80000"/>
            </a:srgbClr>
          </a:solidFill>
          <a:ln w="4763">
            <a:solidFill>
              <a:srgbClr val="FB923C">
                <a:alpha val="2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1348" y="2951336"/>
            <a:ext cx="257175" cy="257175"/>
          </a:xfrm>
          <a:prstGeom prst="ellipse">
            <a:avLst/>
          </a:prstGeom>
          <a:solidFill>
            <a:srgbClr val="FB923C">
              <a:alpha val="15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25" y="3011314"/>
            <a:ext cx="137145" cy="1371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5668" y="2951187"/>
            <a:ext cx="40767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Late &amp; Expensive Medical Attention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1175668" y="3118321"/>
            <a:ext cx="40767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Symptom identification requires clinical visits. Mental health issues like stress and burnout are detected far too late for early intervention.</a:t>
            </a:r>
            <a:endParaRPr lang="en-US" sz="600" dirty="0"/>
          </a:p>
        </p:txBody>
      </p:sp>
      <p:sp>
        <p:nvSpPr>
          <p:cNvPr id="16" name="Shape 10"/>
          <p:cNvSpPr/>
          <p:nvPr/>
        </p:nvSpPr>
        <p:spPr>
          <a:xfrm>
            <a:off x="640966" y="3536491"/>
            <a:ext cx="4752975" cy="571500"/>
          </a:xfrm>
          <a:prstGeom prst="roundRect">
            <a:avLst>
              <a:gd name="adj" fmla="val 20480"/>
            </a:avLst>
          </a:prstGeom>
          <a:solidFill>
            <a:srgbClr val="0A1F35">
              <a:alpha val="80000"/>
            </a:srgbClr>
          </a:solidFill>
          <a:ln w="4763">
            <a:solidFill>
              <a:srgbClr val="A855F7">
                <a:alpha val="2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81348" y="3616970"/>
            <a:ext cx="257175" cy="257175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325" y="3676948"/>
            <a:ext cx="137145" cy="13714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5668" y="3616821"/>
            <a:ext cx="40767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Personalized Guidance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1175668" y="3783955"/>
            <a:ext cx="40767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Generic health advice does not account for individual lifestyle patterns. Users need an AI that understands their unique health context.</a:t>
            </a:r>
            <a:endParaRPr lang="en-US" sz="600" dirty="0"/>
          </a:p>
        </p:txBody>
      </p:sp>
      <p:sp>
        <p:nvSpPr>
          <p:cNvPr id="21" name="Text 14"/>
          <p:cNvSpPr/>
          <p:nvPr/>
        </p:nvSpPr>
        <p:spPr>
          <a:xfrm>
            <a:off x="5942595" y="845790"/>
            <a:ext cx="2562225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SCALE OF THE CRISIS</a:t>
            </a:r>
            <a:endParaRPr lang="en-US" sz="600" dirty="0"/>
          </a:p>
        </p:txBody>
      </p:sp>
      <p:sp>
        <p:nvSpPr>
          <p:cNvPr id="22" name="Shape 15"/>
          <p:cNvSpPr/>
          <p:nvPr/>
        </p:nvSpPr>
        <p:spPr>
          <a:xfrm>
            <a:off x="5942595" y="1193602"/>
            <a:ext cx="2562225" cy="947737"/>
          </a:xfrm>
          <a:prstGeom prst="roundRect">
            <a:avLst>
              <a:gd name="adj" fmla="val 9309"/>
            </a:avLst>
          </a:prstGeom>
          <a:solidFill>
            <a:srgbClr val="EF4444">
              <a:alpha val="8000"/>
            </a:srgbClr>
          </a:solidFill>
          <a:ln w="4763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111664" y="1326952"/>
            <a:ext cx="22240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3200" b="1" dirty="0">
                <a:solidFill>
                  <a:srgbClr val="F871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71%</a:t>
            </a:r>
            <a:endParaRPr lang="en-US" sz="3200" dirty="0"/>
          </a:p>
        </p:txBody>
      </p:sp>
      <p:sp>
        <p:nvSpPr>
          <p:cNvPr id="24" name="Text 17"/>
          <p:cNvSpPr/>
          <p:nvPr/>
        </p:nvSpPr>
        <p:spPr>
          <a:xfrm>
            <a:off x="6111664" y="1779463"/>
            <a:ext cx="2224088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7"/>
              </a:lnSpc>
              <a:spcBef>
                <a:spcPts val="324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 adults experience unhealthy stress levels with no early detection system</a:t>
            </a:r>
            <a:endParaRPr lang="en-US" sz="600" dirty="0"/>
          </a:p>
        </p:txBody>
      </p:sp>
      <p:sp>
        <p:nvSpPr>
          <p:cNvPr id="25" name="Shape 18"/>
          <p:cNvSpPr/>
          <p:nvPr/>
        </p:nvSpPr>
        <p:spPr>
          <a:xfrm>
            <a:off x="5942595" y="2271861"/>
            <a:ext cx="2562225" cy="947737"/>
          </a:xfrm>
          <a:prstGeom prst="roundRect">
            <a:avLst>
              <a:gd name="adj" fmla="val 9309"/>
            </a:avLst>
          </a:prstGeom>
          <a:solidFill>
            <a:srgbClr val="FB923C">
              <a:alpha val="8000"/>
            </a:srgbClr>
          </a:solidFill>
          <a:ln w="4763">
            <a:solidFill>
              <a:srgbClr val="FB923C">
                <a:alpha val="25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111664" y="2405211"/>
            <a:ext cx="22240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3200" b="1" dirty="0">
                <a:solidFill>
                  <a:srgbClr val="FB92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</a:t>
            </a:r>
            <a:endParaRPr lang="en-US" sz="3200" dirty="0"/>
          </a:p>
        </p:txBody>
      </p:sp>
      <p:sp>
        <p:nvSpPr>
          <p:cNvPr id="27" name="Text 20"/>
          <p:cNvSpPr/>
          <p:nvPr/>
        </p:nvSpPr>
        <p:spPr>
          <a:xfrm>
            <a:off x="6111664" y="2857723"/>
            <a:ext cx="2224088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7"/>
              </a:lnSpc>
              <a:spcBef>
                <a:spcPts val="324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 chronic diseases are preventable with early lifestyle intervention</a:t>
            </a:r>
            <a:endParaRPr lang="en-US" sz="600" dirty="0"/>
          </a:p>
        </p:txBody>
      </p:sp>
      <p:sp>
        <p:nvSpPr>
          <p:cNvPr id="28" name="Shape 21"/>
          <p:cNvSpPr/>
          <p:nvPr/>
        </p:nvSpPr>
        <p:spPr>
          <a:xfrm>
            <a:off x="5942595" y="3350121"/>
            <a:ext cx="2562225" cy="947737"/>
          </a:xfrm>
          <a:prstGeom prst="roundRect">
            <a:avLst>
              <a:gd name="adj" fmla="val 9309"/>
            </a:avLst>
          </a:prstGeom>
          <a:solidFill>
            <a:srgbClr val="0EA5E9">
              <a:alpha val="8000"/>
            </a:srgbClr>
          </a:solidFill>
          <a:ln w="4763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111664" y="3483471"/>
            <a:ext cx="22240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3200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6.5B</a:t>
            </a:r>
            <a:endParaRPr lang="en-US" sz="3200" dirty="0"/>
          </a:p>
        </p:txBody>
      </p:sp>
      <p:sp>
        <p:nvSpPr>
          <p:cNvPr id="30" name="Text 23"/>
          <p:cNvSpPr/>
          <p:nvPr/>
        </p:nvSpPr>
        <p:spPr>
          <a:xfrm>
            <a:off x="6111664" y="3935983"/>
            <a:ext cx="2224088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7"/>
              </a:lnSpc>
              <a:spcBef>
                <a:spcPts val="324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smartphone users who could benefit from AI-powered health monitoring</a:t>
            </a:r>
            <a:endParaRPr lang="en-US" sz="600" dirty="0"/>
          </a:p>
        </p:txBody>
      </p:sp>
      <p:sp>
        <p:nvSpPr>
          <p:cNvPr id="31" name="Shape 24"/>
          <p:cNvSpPr/>
          <p:nvPr/>
        </p:nvSpPr>
        <p:spPr>
          <a:xfrm>
            <a:off x="639068" y="4910584"/>
            <a:ext cx="47625" cy="4762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25"/>
          <p:cNvSpPr/>
          <p:nvPr/>
        </p:nvSpPr>
        <p:spPr>
          <a:xfrm>
            <a:off x="732272" y="4879628"/>
            <a:ext cx="595313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Healthcare Titans</a:t>
            </a:r>
            <a:endParaRPr lang="en-US" sz="500" dirty="0"/>
          </a:p>
        </p:txBody>
      </p:sp>
      <p:sp>
        <p:nvSpPr>
          <p:cNvPr id="33" name="Text 26"/>
          <p:cNvSpPr/>
          <p:nvPr/>
        </p:nvSpPr>
        <p:spPr>
          <a:xfrm>
            <a:off x="1510345" y="4879628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34" name="Text 27"/>
          <p:cNvSpPr/>
          <p:nvPr/>
        </p:nvSpPr>
        <p:spPr>
          <a:xfrm>
            <a:off x="1715281" y="4879628"/>
            <a:ext cx="4191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MUIT NOIDA</a:t>
            </a:r>
            <a:endParaRPr lang="en-US" sz="500" dirty="0"/>
          </a:p>
        </p:txBody>
      </p:sp>
      <p:sp>
        <p:nvSpPr>
          <p:cNvPr id="35" name="Text 28"/>
          <p:cNvSpPr/>
          <p:nvPr/>
        </p:nvSpPr>
        <p:spPr>
          <a:xfrm>
            <a:off x="2315505" y="4879628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36" name="Text 29"/>
          <p:cNvSpPr/>
          <p:nvPr/>
        </p:nvSpPr>
        <p:spPr>
          <a:xfrm>
            <a:off x="2520553" y="4879628"/>
            <a:ext cx="28575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02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668" y="281769"/>
            <a:ext cx="1490663" cy="176212"/>
          </a:xfrm>
          <a:prstGeom prst="roundRect">
            <a:avLst>
              <a:gd name="adj" fmla="val 64865"/>
            </a:avLst>
          </a:prstGeom>
          <a:solidFill>
            <a:srgbClr val="14B8A6">
              <a:alpha val="12000"/>
            </a:srgbClr>
          </a:solidFill>
          <a:ln w="4763">
            <a:solidFill>
              <a:srgbClr val="14B8A6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SOLUTION + TECHNOLOGY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40556" y="533809"/>
            <a:ext cx="7862887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72"/>
              </a:lnSpc>
              <a:buNone/>
            </a:pPr>
            <a:r>
              <a:rPr lang="en-US" sz="25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Digital Wellbeing &amp; Healthcare Assistant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35" y="927646"/>
            <a:ext cx="5486400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spcBef>
                <a:spcPts val="324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full-stack AI platform built with Python Flask, SQLite, MediaPipe, and Chart.js — delivering real-time health insights to every user.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40519" y="1397459"/>
            <a:ext cx="2528888" cy="1004887"/>
          </a:xfrm>
          <a:prstGeom prst="roundRect">
            <a:avLst>
              <a:gd name="adj" fmla="val 6624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0EA5E9">
                <a:alpha val="2500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129" y="1504541"/>
            <a:ext cx="219075" cy="21907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247" y="1554659"/>
            <a:ext cx="118839" cy="1188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4688" y="1542641"/>
            <a:ext cx="9334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 Score Engine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781013" y="1775185"/>
            <a:ext cx="22479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AI-calculated daily health score from 6 key metrics: sleep, screen time, mood, exercise, water intake, and work hours. Provides instant actionable feedback.</a:t>
            </a:r>
            <a:endParaRPr lang="en-US" sz="600" dirty="0"/>
          </a:p>
        </p:txBody>
      </p:sp>
      <p:sp>
        <p:nvSpPr>
          <p:cNvPr id="11" name="Text 6"/>
          <p:cNvSpPr/>
          <p:nvPr/>
        </p:nvSpPr>
        <p:spPr>
          <a:xfrm>
            <a:off x="781013" y="2189597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 Flask + SQLite</a:t>
            </a:r>
            <a:endParaRPr lang="en-US" sz="500" dirty="0"/>
          </a:p>
        </p:txBody>
      </p:sp>
      <p:sp>
        <p:nvSpPr>
          <p:cNvPr id="12" name="Shape 7"/>
          <p:cNvSpPr/>
          <p:nvPr/>
        </p:nvSpPr>
        <p:spPr>
          <a:xfrm>
            <a:off x="3307519" y="1397459"/>
            <a:ext cx="2528888" cy="1004887"/>
          </a:xfrm>
          <a:prstGeom prst="roundRect">
            <a:avLst>
              <a:gd name="adj" fmla="val 6624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06B6D4">
                <a:alpha val="25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9129" y="1504541"/>
            <a:ext cx="219075" cy="21907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9247" y="1554659"/>
            <a:ext cx="118839" cy="1188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742581" y="1542641"/>
            <a:ext cx="82391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22D3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Health Chatbot</a:t>
            </a:r>
            <a:endParaRPr lang="en-US" sz="700" dirty="0"/>
          </a:p>
        </p:txBody>
      </p:sp>
      <p:sp>
        <p:nvSpPr>
          <p:cNvPr id="16" name="Text 9"/>
          <p:cNvSpPr/>
          <p:nvPr/>
        </p:nvSpPr>
        <p:spPr>
          <a:xfrm>
            <a:off x="3448013" y="1775185"/>
            <a:ext cx="22479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Intelligent conversational AI for personalized health advice. Maintains full conversation history and responds to health queries 24/7 without clinical visits.</a:t>
            </a:r>
            <a:endParaRPr lang="en-US" sz="600" dirty="0"/>
          </a:p>
        </p:txBody>
      </p:sp>
      <p:sp>
        <p:nvSpPr>
          <p:cNvPr id="17" name="Text 10"/>
          <p:cNvSpPr/>
          <p:nvPr/>
        </p:nvSpPr>
        <p:spPr>
          <a:xfrm>
            <a:off x="3448013" y="2189597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Flask + SQLite Chat History</a:t>
            </a:r>
            <a:endParaRPr lang="en-US" sz="500" dirty="0"/>
          </a:p>
        </p:txBody>
      </p:sp>
      <p:sp>
        <p:nvSpPr>
          <p:cNvPr id="18" name="Shape 11"/>
          <p:cNvSpPr/>
          <p:nvPr/>
        </p:nvSpPr>
        <p:spPr>
          <a:xfrm>
            <a:off x="5974519" y="1397459"/>
            <a:ext cx="2528888" cy="1004887"/>
          </a:xfrm>
          <a:prstGeom prst="roundRect">
            <a:avLst>
              <a:gd name="adj" fmla="val 6624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A855F7">
                <a:alpha val="25000"/>
              </a:srgbClr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16129" y="1504541"/>
            <a:ext cx="219075" cy="219075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6247" y="1554659"/>
            <a:ext cx="118839" cy="11883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407795" y="1542641"/>
            <a:ext cx="8953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C084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Stress Detection</a:t>
            </a:r>
            <a:endParaRPr lang="en-US" sz="700" dirty="0"/>
          </a:p>
        </p:txBody>
      </p:sp>
      <p:sp>
        <p:nvSpPr>
          <p:cNvPr id="22" name="Text 13"/>
          <p:cNvSpPr/>
          <p:nvPr/>
        </p:nvSpPr>
        <p:spPr>
          <a:xfrm>
            <a:off x="6115013" y="1775185"/>
            <a:ext cx="22479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stress detection using device camera. Powered by MediaPipe AI Vision for facial landmark analysis — no wearables needed, runs entirely in-browser.</a:t>
            </a:r>
            <a:endParaRPr lang="en-US" sz="600" dirty="0"/>
          </a:p>
        </p:txBody>
      </p:sp>
      <p:sp>
        <p:nvSpPr>
          <p:cNvPr id="23" name="Text 14"/>
          <p:cNvSpPr/>
          <p:nvPr/>
        </p:nvSpPr>
        <p:spPr>
          <a:xfrm>
            <a:off x="6115013" y="2189597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MediaPipe (Google AI Vision)</a:t>
            </a:r>
            <a:endParaRPr lang="en-US" sz="500" dirty="0"/>
          </a:p>
        </p:txBody>
      </p:sp>
      <p:sp>
        <p:nvSpPr>
          <p:cNvPr id="24" name="Shape 15"/>
          <p:cNvSpPr/>
          <p:nvPr/>
        </p:nvSpPr>
        <p:spPr>
          <a:xfrm>
            <a:off x="640519" y="2539305"/>
            <a:ext cx="2528888" cy="1128713"/>
          </a:xfrm>
          <a:prstGeom prst="roundRect">
            <a:avLst>
              <a:gd name="adj" fmla="val 525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F59E0B">
                <a:alpha val="25000"/>
              </a:srgbClr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2129" y="2647987"/>
            <a:ext cx="219075" cy="219075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247" y="2698105"/>
            <a:ext cx="118839" cy="118839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74204" y="2686087"/>
            <a:ext cx="87630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FBBF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Symptom Checker</a:t>
            </a:r>
            <a:endParaRPr lang="en-US" sz="700" dirty="0"/>
          </a:p>
        </p:txBody>
      </p:sp>
      <p:sp>
        <p:nvSpPr>
          <p:cNvPr id="28" name="Text 17"/>
          <p:cNvSpPr/>
          <p:nvPr/>
        </p:nvSpPr>
        <p:spPr>
          <a:xfrm>
            <a:off x="781013" y="2919412"/>
            <a:ext cx="2247900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AI-powered symptom analysis that suggests possible conditions and next steps. Reduces unnecessary ER visits and helps users make informed decisions about seeking care.</a:t>
            </a:r>
            <a:endParaRPr lang="en-US" sz="600" dirty="0"/>
          </a:p>
        </p:txBody>
      </p:sp>
      <p:sp>
        <p:nvSpPr>
          <p:cNvPr id="29" name="Text 18"/>
          <p:cNvSpPr/>
          <p:nvPr/>
        </p:nvSpPr>
        <p:spPr>
          <a:xfrm>
            <a:off x="781013" y="3453668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Flask ML + HTML/CSS/JS</a:t>
            </a:r>
            <a:endParaRPr lang="en-US" sz="500" dirty="0"/>
          </a:p>
        </p:txBody>
      </p:sp>
      <p:sp>
        <p:nvSpPr>
          <p:cNvPr id="30" name="Shape 19"/>
          <p:cNvSpPr/>
          <p:nvPr/>
        </p:nvSpPr>
        <p:spPr>
          <a:xfrm>
            <a:off x="3307519" y="2539305"/>
            <a:ext cx="2528888" cy="1128713"/>
          </a:xfrm>
          <a:prstGeom prst="roundRect">
            <a:avLst>
              <a:gd name="adj" fmla="val 525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14B8A6">
                <a:alpha val="25000"/>
              </a:srgbClr>
            </a:solidFill>
            <a:prstDash val="solid"/>
          </a:ln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49129" y="2647987"/>
            <a:ext cx="219075" cy="21907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9247" y="2698105"/>
            <a:ext cx="118839" cy="118839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3741130" y="2686087"/>
            <a:ext cx="96678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Analytics Dashboard</a:t>
            </a:r>
            <a:endParaRPr lang="en-US" sz="700" dirty="0"/>
          </a:p>
        </p:txBody>
      </p:sp>
      <p:sp>
        <p:nvSpPr>
          <p:cNvPr id="34" name="Text 21"/>
          <p:cNvSpPr/>
          <p:nvPr/>
        </p:nvSpPr>
        <p:spPr>
          <a:xfrm>
            <a:off x="3448013" y="2918631"/>
            <a:ext cx="22479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Visual health analytics with interactive Chart.js graphs tracking sleep, exercise, mood, and health score trends over 7/14/30 day periods.</a:t>
            </a:r>
            <a:endParaRPr lang="en-US" sz="600" dirty="0"/>
          </a:p>
        </p:txBody>
      </p:sp>
      <p:sp>
        <p:nvSpPr>
          <p:cNvPr id="35" name="Text 22"/>
          <p:cNvSpPr/>
          <p:nvPr/>
        </p:nvSpPr>
        <p:spPr>
          <a:xfrm>
            <a:off x="3448013" y="3453668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spcBef>
                <a:spcPts val="950"/>
              </a:spcBef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Chart.js + Bootstrap 5</a:t>
            </a:r>
            <a:endParaRPr lang="en-US" sz="500" dirty="0"/>
          </a:p>
        </p:txBody>
      </p:sp>
      <p:sp>
        <p:nvSpPr>
          <p:cNvPr id="36" name="Shape 23"/>
          <p:cNvSpPr/>
          <p:nvPr/>
        </p:nvSpPr>
        <p:spPr>
          <a:xfrm>
            <a:off x="5974519" y="2539305"/>
            <a:ext cx="2528888" cy="1128713"/>
          </a:xfrm>
          <a:prstGeom prst="roundRect">
            <a:avLst>
              <a:gd name="adj" fmla="val 525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22C55E">
                <a:alpha val="25000"/>
              </a:srgbClr>
            </a:solidFill>
            <a:prstDash val="solid"/>
          </a:ln>
        </p:spPr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16129" y="2647987"/>
            <a:ext cx="219075" cy="219075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66247" y="2698105"/>
            <a:ext cx="118839" cy="118839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409544" y="2686087"/>
            <a:ext cx="938212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00" b="1" dirty="0">
                <a:solidFill>
                  <a:srgbClr val="4ADE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 Auth System</a:t>
            </a:r>
            <a:endParaRPr lang="en-US" sz="700" dirty="0"/>
          </a:p>
        </p:txBody>
      </p:sp>
      <p:sp>
        <p:nvSpPr>
          <p:cNvPr id="40" name="Text 25"/>
          <p:cNvSpPr/>
          <p:nvPr/>
        </p:nvSpPr>
        <p:spPr>
          <a:xfrm>
            <a:off x="6115013" y="2918631"/>
            <a:ext cx="22479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user authentication with bcrypt password hashing, session management, and personal health history — each user's data is private and persistent.</a:t>
            </a:r>
            <a:endParaRPr lang="en-US" sz="600" dirty="0"/>
          </a:p>
        </p:txBody>
      </p:sp>
      <p:sp>
        <p:nvSpPr>
          <p:cNvPr id="41" name="Text 26"/>
          <p:cNvSpPr/>
          <p:nvPr/>
        </p:nvSpPr>
        <p:spPr>
          <a:xfrm>
            <a:off x="6115013" y="3453668"/>
            <a:ext cx="2247900" cy="104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2"/>
              </a:lnSpc>
              <a:spcBef>
                <a:spcPts val="950"/>
              </a:spcBef>
              <a:buNone/>
            </a:pPr>
            <a:r>
              <a:rPr lang="en-US" sz="5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Werkzeug + SQLite</a:t>
            </a:r>
            <a:endParaRPr lang="en-US" sz="500" dirty="0"/>
          </a:p>
        </p:txBody>
      </p:sp>
      <p:sp>
        <p:nvSpPr>
          <p:cNvPr id="42" name="Shape 27"/>
          <p:cNvSpPr/>
          <p:nvPr/>
        </p:nvSpPr>
        <p:spPr>
          <a:xfrm>
            <a:off x="639068" y="4936257"/>
            <a:ext cx="47625" cy="4762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3" name="Text 28"/>
          <p:cNvSpPr/>
          <p:nvPr/>
        </p:nvSpPr>
        <p:spPr>
          <a:xfrm>
            <a:off x="732272" y="4905301"/>
            <a:ext cx="595313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Healthcare Titans</a:t>
            </a:r>
            <a:endParaRPr lang="en-US" sz="500" dirty="0"/>
          </a:p>
        </p:txBody>
      </p:sp>
      <p:sp>
        <p:nvSpPr>
          <p:cNvPr id="44" name="Text 29"/>
          <p:cNvSpPr/>
          <p:nvPr/>
        </p:nvSpPr>
        <p:spPr>
          <a:xfrm>
            <a:off x="151034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45" name="Text 30"/>
          <p:cNvSpPr/>
          <p:nvPr/>
        </p:nvSpPr>
        <p:spPr>
          <a:xfrm>
            <a:off x="1715281" y="4905301"/>
            <a:ext cx="4191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MUIT NOIDA</a:t>
            </a:r>
            <a:endParaRPr lang="en-US" sz="500" dirty="0"/>
          </a:p>
        </p:txBody>
      </p:sp>
      <p:sp>
        <p:nvSpPr>
          <p:cNvPr id="46" name="Text 31"/>
          <p:cNvSpPr/>
          <p:nvPr/>
        </p:nvSpPr>
        <p:spPr>
          <a:xfrm>
            <a:off x="231550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47" name="Text 32"/>
          <p:cNvSpPr/>
          <p:nvPr/>
        </p:nvSpPr>
        <p:spPr>
          <a:xfrm>
            <a:off x="2520888" y="4905301"/>
            <a:ext cx="28575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03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259" y="281769"/>
            <a:ext cx="1571625" cy="176212"/>
          </a:xfrm>
          <a:prstGeom prst="roundRect">
            <a:avLst>
              <a:gd name="adj" fmla="val 64865"/>
            </a:avLst>
          </a:prstGeom>
          <a:solidFill>
            <a:srgbClr val="0EA5E9">
              <a:alpha val="12000"/>
            </a:srgbClr>
          </a:solidFill>
          <a:ln w="4763">
            <a:solidFill>
              <a:srgbClr val="0EA5E9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607"/>
              </a:spcAft>
              <a:buNone/>
            </a:pPr>
            <a:r>
              <a:rPr lang="en-US" sz="6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CASES &amp; APPLICABILITY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640556" y="533809"/>
            <a:ext cx="7862887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72"/>
              </a:lnSpc>
              <a:buNone/>
            </a:pPr>
            <a:r>
              <a:rPr lang="en-US" sz="25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Benefits from This Platform?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39589" y="1040383"/>
            <a:ext cx="3795712" cy="762000"/>
          </a:xfrm>
          <a:prstGeom prst="roundRect">
            <a:avLst>
              <a:gd name="adj" fmla="val 1152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0EA5E9">
                <a:alpha val="2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369" y="1148953"/>
            <a:ext cx="290513" cy="2905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476" y="1221060"/>
            <a:ext cx="146298" cy="1462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0222" y="1147167"/>
            <a:ext cx="3024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Students &amp; Young Adults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1240222" y="1323938"/>
            <a:ext cx="30241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 exam-period stress, irregular sleep, and poor nutrition. The AI chatbot guides students on managing academic pressure and maintaining healthy habits during high-workload periods.</a:t>
            </a:r>
            <a:endParaRPr lang="en-US" sz="600" dirty="0"/>
          </a:p>
        </p:txBody>
      </p:sp>
      <p:sp>
        <p:nvSpPr>
          <p:cNvPr id="10" name="Shape 5"/>
          <p:cNvSpPr/>
          <p:nvPr/>
        </p:nvSpPr>
        <p:spPr>
          <a:xfrm>
            <a:off x="4708699" y="1040383"/>
            <a:ext cx="3795712" cy="762000"/>
          </a:xfrm>
          <a:prstGeom prst="roundRect">
            <a:avLst>
              <a:gd name="adj" fmla="val 1152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14B8A6">
                <a:alpha val="2000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9479" y="1148953"/>
            <a:ext cx="290513" cy="290513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586" y="1221060"/>
            <a:ext cx="146298" cy="1462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09332" y="1147167"/>
            <a:ext cx="3024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Working Professionals</a:t>
            </a:r>
            <a:endParaRPr lang="en-US" sz="700" dirty="0"/>
          </a:p>
        </p:txBody>
      </p:sp>
      <p:sp>
        <p:nvSpPr>
          <p:cNvPr id="14" name="Text 7"/>
          <p:cNvSpPr/>
          <p:nvPr/>
        </p:nvSpPr>
        <p:spPr>
          <a:xfrm>
            <a:off x="5309332" y="1323938"/>
            <a:ext cx="30241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Monitor work-life balance through screen time, work hours, and physical activity tracking. The stress detection camera feature helps identify burnout before it becomes critical.</a:t>
            </a:r>
            <a:endParaRPr lang="en-US" sz="600" dirty="0"/>
          </a:p>
        </p:txBody>
      </p:sp>
      <p:sp>
        <p:nvSpPr>
          <p:cNvPr id="15" name="Shape 8"/>
          <p:cNvSpPr/>
          <p:nvPr/>
        </p:nvSpPr>
        <p:spPr>
          <a:xfrm>
            <a:off x="639589" y="1905372"/>
            <a:ext cx="3795712" cy="762000"/>
          </a:xfrm>
          <a:prstGeom prst="roundRect">
            <a:avLst>
              <a:gd name="adj" fmla="val 1152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F59E0B">
                <a:alpha val="20000"/>
              </a:srgbClr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0369" y="2013942"/>
            <a:ext cx="290513" cy="290513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476" y="2086049"/>
            <a:ext cx="146298" cy="14629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240222" y="2012156"/>
            <a:ext cx="3024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Elderly &amp; Chronic Patients</a:t>
            </a:r>
            <a:endParaRPr lang="en-US" sz="700" dirty="0"/>
          </a:p>
        </p:txBody>
      </p:sp>
      <p:sp>
        <p:nvSpPr>
          <p:cNvPr id="19" name="Text 10"/>
          <p:cNvSpPr/>
          <p:nvPr/>
        </p:nvSpPr>
        <p:spPr>
          <a:xfrm>
            <a:off x="1240222" y="2188927"/>
            <a:ext cx="30241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Symptom checker provides guidance for age-related conditions. Regular health data logging with AI-backed recommendations helps manage long-term health without constant hospital visits.</a:t>
            </a:r>
            <a:endParaRPr lang="en-US" sz="600" dirty="0"/>
          </a:p>
        </p:txBody>
      </p:sp>
      <p:sp>
        <p:nvSpPr>
          <p:cNvPr id="20" name="Shape 11"/>
          <p:cNvSpPr/>
          <p:nvPr/>
        </p:nvSpPr>
        <p:spPr>
          <a:xfrm>
            <a:off x="4708699" y="1905372"/>
            <a:ext cx="3795712" cy="762000"/>
          </a:xfrm>
          <a:prstGeom prst="roundRect">
            <a:avLst>
              <a:gd name="adj" fmla="val 11520"/>
            </a:avLst>
          </a:prstGeom>
          <a:solidFill>
            <a:srgbClr val="0A1F35">
              <a:alpha val="90000"/>
            </a:srgbClr>
          </a:solidFill>
          <a:ln w="4763">
            <a:solidFill>
              <a:srgbClr val="A855F7">
                <a:alpha val="20000"/>
              </a:srgbClr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9479" y="2013942"/>
            <a:ext cx="290513" cy="290513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1586" y="2086049"/>
            <a:ext cx="146298" cy="14629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09332" y="2012156"/>
            <a:ext cx="30241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C084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Healthcare Institutions</a:t>
            </a:r>
            <a:endParaRPr lang="en-US" sz="700" dirty="0"/>
          </a:p>
        </p:txBody>
      </p:sp>
      <p:sp>
        <p:nvSpPr>
          <p:cNvPr id="24" name="Text 13"/>
          <p:cNvSpPr/>
          <p:nvPr/>
        </p:nvSpPr>
        <p:spPr>
          <a:xfrm>
            <a:off x="5309332" y="2188927"/>
            <a:ext cx="30241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Hospitals and clinics can deploy the platform for pre-appointment screening and post-discharge monitoring. Aggregate analytics help identify population health trends.</a:t>
            </a:r>
            <a:endParaRPr lang="en-US" sz="6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0556" y="4294622"/>
            <a:ext cx="7862887" cy="56673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27633" y="4398541"/>
            <a:ext cx="9144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</a:t>
            </a:r>
            <a:endParaRPr lang="en-US" sz="1800" dirty="0"/>
          </a:p>
        </p:txBody>
      </p:sp>
      <p:sp>
        <p:nvSpPr>
          <p:cNvPr id="27" name="Text 15"/>
          <p:cNvSpPr/>
          <p:nvPr/>
        </p:nvSpPr>
        <p:spPr>
          <a:xfrm>
            <a:off x="827633" y="4647754"/>
            <a:ext cx="9144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"/>
              </a:lnSpc>
              <a:spcBef>
                <a:spcPts val="162"/>
              </a:spcBef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Hardware Required</a:t>
            </a:r>
            <a:endParaRPr lang="en-US" sz="500" dirty="0"/>
          </a:p>
        </p:txBody>
      </p:sp>
      <p:sp>
        <p:nvSpPr>
          <p:cNvPr id="28" name="Shape 16"/>
          <p:cNvSpPr/>
          <p:nvPr/>
        </p:nvSpPr>
        <p:spPr>
          <a:xfrm>
            <a:off x="2016323" y="4449366"/>
            <a:ext cx="4763" cy="2571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Text 17"/>
          <p:cNvSpPr/>
          <p:nvPr/>
        </p:nvSpPr>
        <p:spPr>
          <a:xfrm>
            <a:off x="2295376" y="4398541"/>
            <a:ext cx="9144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24/7</a:t>
            </a:r>
            <a:endParaRPr lang="en-US" sz="1800" dirty="0"/>
          </a:p>
        </p:txBody>
      </p:sp>
      <p:sp>
        <p:nvSpPr>
          <p:cNvPr id="30" name="Text 18"/>
          <p:cNvSpPr/>
          <p:nvPr/>
        </p:nvSpPr>
        <p:spPr>
          <a:xfrm>
            <a:off x="2295376" y="4647754"/>
            <a:ext cx="9144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"/>
              </a:lnSpc>
              <a:spcBef>
                <a:spcPts val="162"/>
              </a:spcBef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Availability</a:t>
            </a:r>
            <a:endParaRPr lang="en-US" sz="500" dirty="0"/>
          </a:p>
        </p:txBody>
      </p:sp>
      <p:sp>
        <p:nvSpPr>
          <p:cNvPr id="31" name="Shape 19"/>
          <p:cNvSpPr/>
          <p:nvPr/>
        </p:nvSpPr>
        <p:spPr>
          <a:xfrm>
            <a:off x="3484066" y="4449366"/>
            <a:ext cx="4763" cy="2571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20"/>
          <p:cNvSpPr/>
          <p:nvPr/>
        </p:nvSpPr>
        <p:spPr>
          <a:xfrm>
            <a:off x="3763119" y="4398541"/>
            <a:ext cx="9144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</a:t>
            </a:r>
            <a:endParaRPr lang="en-US" sz="1800" dirty="0"/>
          </a:p>
        </p:txBody>
      </p:sp>
      <p:sp>
        <p:nvSpPr>
          <p:cNvPr id="33" name="Text 21"/>
          <p:cNvSpPr/>
          <p:nvPr/>
        </p:nvSpPr>
        <p:spPr>
          <a:xfrm>
            <a:off x="3763119" y="4647754"/>
            <a:ext cx="9144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"/>
              </a:lnSpc>
              <a:spcBef>
                <a:spcPts val="162"/>
              </a:spcBef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Device, Browser-based</a:t>
            </a:r>
            <a:endParaRPr lang="en-US" sz="500" dirty="0"/>
          </a:p>
        </p:txBody>
      </p:sp>
      <p:sp>
        <p:nvSpPr>
          <p:cNvPr id="34" name="Shape 22"/>
          <p:cNvSpPr/>
          <p:nvPr/>
        </p:nvSpPr>
        <p:spPr>
          <a:xfrm>
            <a:off x="4951809" y="4449366"/>
            <a:ext cx="4763" cy="2571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Text 23"/>
          <p:cNvSpPr/>
          <p:nvPr/>
        </p:nvSpPr>
        <p:spPr>
          <a:xfrm>
            <a:off x="5230564" y="4393481"/>
            <a:ext cx="308610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122"/>
              </a:spcAft>
              <a:buNone/>
            </a:pPr>
            <a:r>
              <a:rPr lang="en-US" sz="6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Scalable &amp; Open Source Ready</a:t>
            </a:r>
            <a:endParaRPr lang="en-US" sz="600" dirty="0"/>
          </a:p>
        </p:txBody>
      </p:sp>
      <p:sp>
        <p:nvSpPr>
          <p:cNvPr id="36" name="Text 24"/>
          <p:cNvSpPr/>
          <p:nvPr/>
        </p:nvSpPr>
        <p:spPr>
          <a:xfrm>
            <a:off x="5230564" y="4538886"/>
            <a:ext cx="3086100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5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Flask + SQLite architecture can be scaled to PostgreSQL or MySQL for enterprise deployment, making it accessible from rural clinics to urban hospitals.</a:t>
            </a:r>
            <a:endParaRPr lang="en-US" sz="500" dirty="0"/>
          </a:p>
        </p:txBody>
      </p:sp>
      <p:sp>
        <p:nvSpPr>
          <p:cNvPr id="37" name="Shape 25"/>
          <p:cNvSpPr/>
          <p:nvPr/>
        </p:nvSpPr>
        <p:spPr>
          <a:xfrm>
            <a:off x="639068" y="4936257"/>
            <a:ext cx="47625" cy="4762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26"/>
          <p:cNvSpPr/>
          <p:nvPr/>
        </p:nvSpPr>
        <p:spPr>
          <a:xfrm>
            <a:off x="732272" y="4905301"/>
            <a:ext cx="595313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Healthcare Titans</a:t>
            </a:r>
            <a:endParaRPr lang="en-US" sz="500" dirty="0"/>
          </a:p>
        </p:txBody>
      </p:sp>
      <p:sp>
        <p:nvSpPr>
          <p:cNvPr id="39" name="Text 27"/>
          <p:cNvSpPr/>
          <p:nvPr/>
        </p:nvSpPr>
        <p:spPr>
          <a:xfrm>
            <a:off x="151034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40" name="Text 28"/>
          <p:cNvSpPr/>
          <p:nvPr/>
        </p:nvSpPr>
        <p:spPr>
          <a:xfrm>
            <a:off x="1715281" y="4905301"/>
            <a:ext cx="4191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MUIT NOIDA</a:t>
            </a:r>
            <a:endParaRPr lang="en-US" sz="500" dirty="0"/>
          </a:p>
        </p:txBody>
      </p:sp>
      <p:sp>
        <p:nvSpPr>
          <p:cNvPr id="41" name="Text 29"/>
          <p:cNvSpPr/>
          <p:nvPr/>
        </p:nvSpPr>
        <p:spPr>
          <a:xfrm>
            <a:off x="231550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42" name="Text 30"/>
          <p:cNvSpPr/>
          <p:nvPr/>
        </p:nvSpPr>
        <p:spPr>
          <a:xfrm>
            <a:off x="2521669" y="4905301"/>
            <a:ext cx="28575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9144000" cy="47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9068" y="1023454"/>
            <a:ext cx="4391025" cy="176212"/>
          </a:xfrm>
          <a:prstGeom prst="roundRect">
            <a:avLst>
              <a:gd name="adj" fmla="val 64865"/>
            </a:avLst>
          </a:prstGeom>
          <a:solidFill>
            <a:srgbClr val="F59E0B">
              <a:alpha val="12000"/>
            </a:srgbClr>
          </a:solidFill>
          <a:ln w="4763">
            <a:solidFill>
              <a:srgbClr val="F59E0B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2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FBBF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IMPACT &amp; FUTURE VISION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39068" y="1301874"/>
            <a:ext cx="4391025" cy="728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73"/>
              </a:lnSpc>
              <a:spcAft>
                <a:spcPts val="1215"/>
              </a:spcAft>
              <a:buNone/>
            </a:pPr>
            <a:r>
              <a:rPr lang="en-US" sz="27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the Future of</a:t>
            </a:r>
            <a:endParaRPr lang="en-US" sz="2700" dirty="0"/>
          </a:p>
          <a:p>
            <a:pPr marL="0" indent="0" algn="l">
              <a:lnSpc>
                <a:spcPts val="2873"/>
              </a:lnSpc>
              <a:buNone/>
            </a:pPr>
            <a:r>
              <a:rPr lang="en-US" sz="27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Preventive Healthcare</a:t>
            </a:r>
            <a:endParaRPr lang="en-US" sz="27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966" y="2196443"/>
            <a:ext cx="180975" cy="18097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86" y="2236663"/>
            <a:ext cx="100533" cy="10053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60983" y="2185801"/>
            <a:ext cx="4067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Reduce Preventable Hospital Visits</a:t>
            </a:r>
            <a:endParaRPr lang="en-US" sz="700" dirty="0"/>
          </a:p>
        </p:txBody>
      </p:sp>
      <p:sp>
        <p:nvSpPr>
          <p:cNvPr id="9" name="Text 3"/>
          <p:cNvSpPr/>
          <p:nvPr/>
        </p:nvSpPr>
        <p:spPr>
          <a:xfrm>
            <a:off x="960983" y="2344266"/>
            <a:ext cx="40671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Early AI detection of stress and lifestyle imbalances prevents escalation into clinical conditions, directly reducing the burden on India's healthcare system.</a:t>
            </a:r>
            <a:endParaRPr lang="en-US" sz="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966" y="2705584"/>
            <a:ext cx="180975" cy="18097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86" y="2745804"/>
            <a:ext cx="100533" cy="100533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60983" y="2694942"/>
            <a:ext cx="4067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Democratize Healthcare Access</a:t>
            </a:r>
            <a:endParaRPr lang="en-US" sz="700" dirty="0"/>
          </a:p>
        </p:txBody>
      </p:sp>
      <p:sp>
        <p:nvSpPr>
          <p:cNvPr id="13" name="Text 5"/>
          <p:cNvSpPr/>
          <p:nvPr/>
        </p:nvSpPr>
        <p:spPr>
          <a:xfrm>
            <a:off x="960983" y="2853407"/>
            <a:ext cx="40671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browser-based platform with no hardware requirements makes AI health monitoring accessible to Tier 2/3 cities and rural populations across India.</a:t>
            </a:r>
            <a:endParaRPr lang="en-US" sz="6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966" y="3214725"/>
            <a:ext cx="180975" cy="180975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86" y="3254946"/>
            <a:ext cx="100533" cy="100533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960983" y="3204083"/>
            <a:ext cx="4067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Future: IoT &amp; Wearable Integration</a:t>
            </a:r>
            <a:endParaRPr lang="en-US" sz="700" dirty="0"/>
          </a:p>
        </p:txBody>
      </p:sp>
      <p:sp>
        <p:nvSpPr>
          <p:cNvPr id="17" name="Text 7"/>
          <p:cNvSpPr/>
          <p:nvPr/>
        </p:nvSpPr>
        <p:spPr>
          <a:xfrm>
            <a:off x="960983" y="3362548"/>
            <a:ext cx="40671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expansion to integrate smartwatch data, IoT sensors, and real doctor consultation booking directly from the platform dashboard.</a:t>
            </a:r>
            <a:endParaRPr lang="en-US" sz="6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966" y="3723866"/>
            <a:ext cx="180975" cy="18097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86" y="3764087"/>
            <a:ext cx="100533" cy="100533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960983" y="3713225"/>
            <a:ext cx="4067175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4"/>
              </a:lnSpc>
              <a:spcAft>
                <a:spcPts val="122"/>
              </a:spcAft>
              <a:buNone/>
            </a:pPr>
            <a:r>
              <a:rPr lang="en-US" sz="700" b="1" dirty="0">
                <a:solidFill>
                  <a:srgbClr val="F0F9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Multilingual &amp; Offline Support</a:t>
            </a:r>
            <a:endParaRPr lang="en-US" sz="700" dirty="0"/>
          </a:p>
        </p:txBody>
      </p:sp>
      <p:sp>
        <p:nvSpPr>
          <p:cNvPr id="21" name="Text 9"/>
          <p:cNvSpPr/>
          <p:nvPr/>
        </p:nvSpPr>
        <p:spPr>
          <a:xfrm>
            <a:off x="960983" y="3871689"/>
            <a:ext cx="40671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 includes Hindi and regional language support plus offline mode to serve patients in low-connectivity areas with AI-based health guidance.</a:t>
            </a:r>
            <a:endParaRPr lang="en-US" sz="6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85433" y="903684"/>
            <a:ext cx="3019425" cy="2028825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673551" y="1064196"/>
            <a:ext cx="26431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 STACK</a:t>
            </a:r>
            <a:endParaRPr lang="en-US" sz="600" dirty="0"/>
          </a:p>
        </p:txBody>
      </p:sp>
      <p:sp>
        <p:nvSpPr>
          <p:cNvPr id="24" name="Text 11"/>
          <p:cNvSpPr/>
          <p:nvPr/>
        </p:nvSpPr>
        <p:spPr>
          <a:xfrm>
            <a:off x="5673551" y="1231441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0EA5E9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</a:t>
            </a:r>
            <a:r>
              <a:rPr lang="en-US" sz="6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Python Flask</a:t>
            </a:r>
            <a:endParaRPr lang="en-US" sz="600" dirty="0"/>
          </a:p>
        </p:txBody>
      </p:sp>
      <p:sp>
        <p:nvSpPr>
          <p:cNvPr id="25" name="Text 12"/>
          <p:cNvSpPr/>
          <p:nvPr/>
        </p:nvSpPr>
        <p:spPr>
          <a:xfrm>
            <a:off x="5673551" y="1498736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14B8A6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</a:t>
            </a:r>
            <a:r>
              <a:rPr lang="en-US" sz="6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SQLite (MySQL ready)</a:t>
            </a:r>
            <a:endParaRPr lang="en-US" sz="600" dirty="0"/>
          </a:p>
        </p:txBody>
      </p:sp>
      <p:sp>
        <p:nvSpPr>
          <p:cNvPr id="26" name="Text 13"/>
          <p:cNvSpPr/>
          <p:nvPr/>
        </p:nvSpPr>
        <p:spPr>
          <a:xfrm>
            <a:off x="5673551" y="1766032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A855F7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Vision</a:t>
            </a:r>
            <a:r>
              <a:rPr lang="en-US" sz="600" b="1" dirty="0">
                <a:solidFill>
                  <a:srgbClr val="C084F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MediaPipe (Google)</a:t>
            </a:r>
            <a:endParaRPr lang="en-US" sz="600" dirty="0"/>
          </a:p>
        </p:txBody>
      </p:sp>
      <p:sp>
        <p:nvSpPr>
          <p:cNvPr id="27" name="Text 14"/>
          <p:cNvSpPr/>
          <p:nvPr/>
        </p:nvSpPr>
        <p:spPr>
          <a:xfrm>
            <a:off x="5673551" y="2033327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F59E0B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</a:t>
            </a:r>
            <a:r>
              <a:rPr lang="en-US" sz="600" b="1" dirty="0">
                <a:solidFill>
                  <a:srgbClr val="FBBF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HTML/CSS/JS + Bootstrap 5</a:t>
            </a:r>
            <a:endParaRPr lang="en-US" sz="600" dirty="0"/>
          </a:p>
        </p:txBody>
      </p:sp>
      <p:sp>
        <p:nvSpPr>
          <p:cNvPr id="28" name="Text 15"/>
          <p:cNvSpPr/>
          <p:nvPr/>
        </p:nvSpPr>
        <p:spPr>
          <a:xfrm>
            <a:off x="5673551" y="2300622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22C55E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Charts</a:t>
            </a:r>
            <a:r>
              <a:rPr lang="en-US" sz="600" b="1" dirty="0">
                <a:solidFill>
                  <a:srgbClr val="4ADE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Chart.js v4</a:t>
            </a:r>
            <a:endParaRPr lang="en-US" sz="600" dirty="0"/>
          </a:p>
        </p:txBody>
      </p:sp>
      <p:sp>
        <p:nvSpPr>
          <p:cNvPr id="29" name="Text 16"/>
          <p:cNvSpPr/>
          <p:nvPr/>
        </p:nvSpPr>
        <p:spPr>
          <a:xfrm>
            <a:off x="5673551" y="2567918"/>
            <a:ext cx="2643188" cy="204787"/>
          </a:xfrm>
          <a:prstGeom prst="roundRect">
            <a:avLst>
              <a:gd name="adj" fmla="val 24922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</a:t>
            </a:r>
            <a:r>
              <a:rPr lang="en-US" sz="600" b="1" dirty="0">
                <a:solidFill>
                  <a:srgbClr val="F8717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Werkzeug Bcrypt</a:t>
            </a:r>
            <a:endParaRPr lang="en-US" sz="6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85433" y="3086621"/>
            <a:ext cx="3019425" cy="115252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673551" y="3219934"/>
            <a:ext cx="26431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Aft>
                <a:spcPts val="607"/>
              </a:spcAft>
              <a:buNone/>
            </a:pPr>
            <a:r>
              <a:rPr lang="en-US" sz="1100" b="1" dirty="0">
                <a:solidFill>
                  <a:srgbClr val="F0F9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"Prevention is better than cure"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5673551" y="3515730"/>
            <a:ext cx="2643188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built this platform to make AI-powered preventive healthcare accessible to every Indian — from students to seniors — using technology that runs on any smartphone or laptop.</a:t>
            </a:r>
            <a:endParaRPr lang="en-US" sz="600" dirty="0"/>
          </a:p>
        </p:txBody>
      </p:sp>
      <p:sp>
        <p:nvSpPr>
          <p:cNvPr id="33" name="Text 19"/>
          <p:cNvSpPr/>
          <p:nvPr/>
        </p:nvSpPr>
        <p:spPr>
          <a:xfrm>
            <a:off x="5673551" y="3990603"/>
            <a:ext cx="2643188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"/>
              </a:lnSpc>
              <a:spcBef>
                <a:spcPts val="810"/>
              </a:spcBef>
              <a:buNone/>
            </a:pPr>
            <a:r>
              <a:rPr lang="en-US" sz="6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Team Healthcare Titans, MUIT NOIDA</a:t>
            </a:r>
            <a:endParaRPr lang="en-US" sz="600" dirty="0"/>
          </a:p>
        </p:txBody>
      </p:sp>
      <p:sp>
        <p:nvSpPr>
          <p:cNvPr id="34" name="Shape 20"/>
          <p:cNvSpPr/>
          <p:nvPr/>
        </p:nvSpPr>
        <p:spPr>
          <a:xfrm>
            <a:off x="639068" y="4936257"/>
            <a:ext cx="47625" cy="47625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21"/>
          <p:cNvSpPr/>
          <p:nvPr/>
        </p:nvSpPr>
        <p:spPr>
          <a:xfrm>
            <a:off x="732272" y="4905301"/>
            <a:ext cx="595313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Healthcare Titans</a:t>
            </a:r>
            <a:endParaRPr lang="en-US" sz="500" dirty="0"/>
          </a:p>
        </p:txBody>
      </p:sp>
      <p:sp>
        <p:nvSpPr>
          <p:cNvPr id="36" name="Text 22"/>
          <p:cNvSpPr/>
          <p:nvPr/>
        </p:nvSpPr>
        <p:spPr>
          <a:xfrm>
            <a:off x="151034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37" name="Text 23"/>
          <p:cNvSpPr/>
          <p:nvPr/>
        </p:nvSpPr>
        <p:spPr>
          <a:xfrm>
            <a:off x="1715281" y="4905301"/>
            <a:ext cx="41910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MUIT NOIDA</a:t>
            </a:r>
            <a:endParaRPr lang="en-US" sz="500" dirty="0"/>
          </a:p>
        </p:txBody>
      </p:sp>
      <p:sp>
        <p:nvSpPr>
          <p:cNvPr id="38" name="Text 24"/>
          <p:cNvSpPr/>
          <p:nvPr/>
        </p:nvSpPr>
        <p:spPr>
          <a:xfrm>
            <a:off x="2315505" y="4905301"/>
            <a:ext cx="23812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3341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|</a:t>
            </a:r>
            <a:endParaRPr lang="en-US" sz="500" dirty="0"/>
          </a:p>
        </p:txBody>
      </p:sp>
      <p:sp>
        <p:nvSpPr>
          <p:cNvPr id="39" name="Text 25"/>
          <p:cNvSpPr/>
          <p:nvPr/>
        </p:nvSpPr>
        <p:spPr>
          <a:xfrm>
            <a:off x="2521148" y="4905301"/>
            <a:ext cx="28575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05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Microsoft Office PowerPoint</Application>
  <PresentationFormat>On-screen Show (16:9)</PresentationFormat>
  <Paragraphs>114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Deepshikha</cp:lastModifiedBy>
  <cp:revision>2</cp:revision>
  <dcterms:created xsi:type="dcterms:W3CDTF">2026-03-23T17:20:03Z</dcterms:created>
  <dcterms:modified xsi:type="dcterms:W3CDTF">2026-03-23T17:22:35Z</dcterms:modified>
</cp:coreProperties>
</file>